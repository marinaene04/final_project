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8" d="100"/>
          <a:sy n="158" d="100"/>
        </p:scale>
        <p:origin x="3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8B949E"/>
                </a:solidFill>
                <a:latin typeface="Consolas"/>
              </a:defRPr>
            </a:pPr>
            <a:r>
              <a:rPr lang="en-US" sz="1000" b="0" i="0" u="none" strike="noStrike">
                <a:solidFill>
                  <a:srgbClr val="8B949E"/>
                </a:solidFill>
                <a:latin typeface="Consolas"/>
              </a:rPr>
              <a:t>Profit Margin by Company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Margin (%)</c:v>
                </c:pt>
              </c:strCache>
            </c:strRef>
          </c:tx>
          <c:spPr>
            <a:solidFill>
              <a:srgbClr val="3FB950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Apple</c:v>
                </c:pt>
                <c:pt idx="1">
                  <c:v>MSFT</c:v>
                </c:pt>
                <c:pt idx="2">
                  <c:v>Tesla</c:v>
                </c:pt>
                <c:pt idx="3">
                  <c:v>AMZN</c:v>
                </c:pt>
                <c:pt idx="4">
                  <c:v>NFLX</c:v>
                </c:pt>
                <c:pt idx="5">
                  <c:v>Spotify</c:v>
                </c:pt>
                <c:pt idx="6">
                  <c:v>GME</c:v>
                </c:pt>
                <c:pt idx="7">
                  <c:v>WeWork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30.26</c:v>
                </c:pt>
                <c:pt idx="1">
                  <c:v>27.87</c:v>
                </c:pt>
                <c:pt idx="2">
                  <c:v>15.09</c:v>
                </c:pt>
                <c:pt idx="3">
                  <c:v>7.47</c:v>
                </c:pt>
                <c:pt idx="4">
                  <c:v>19.73</c:v>
                </c:pt>
                <c:pt idx="5">
                  <c:v>3</c:v>
                </c:pt>
                <c:pt idx="6">
                  <c:v>-5.65</c:v>
                </c:pt>
                <c:pt idx="7">
                  <c:v>-61.11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269-B348-B85D-2A10228D68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B949E"/>
                </a:solidFill>
                <a:latin typeface="Consola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036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1B22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5274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" y="0"/>
            <a:ext cx="9107424" cy="27432"/>
          </a:xfrm>
          <a:prstGeom prst="rect">
            <a:avLst/>
          </a:prstGeom>
          <a:solidFill>
            <a:srgbClr val="D4A843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~/projects$  python scanner.py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Company Financial</a:t>
            </a:r>
            <a:endParaRPr lang="en-US" sz="4200" dirty="0">
              <a:latin typeface="Century Gothic" panose="020B0502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3FB950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Health Scanner</a:t>
            </a:r>
            <a:endParaRPr lang="en-US" sz="4200" dirty="0">
              <a:latin typeface="Century Gothic" panose="020B0502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663440" y="2258568"/>
            <a:ext cx="411480" cy="54864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Analyzing corporate financial strength with Python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3200400"/>
            <a:ext cx="9144000" cy="18288"/>
          </a:xfrm>
          <a:prstGeom prst="rect">
            <a:avLst/>
          </a:prstGeom>
          <a:solidFill>
            <a:srgbClr val="3FB95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3429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"Programming for Economists II"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university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"IE University"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069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</a:t>
            </a: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200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[”Marina", ”Anja Ruzica", ”Sergio"]</a:t>
            </a:r>
            <a:endParaRPr lang="en-US" sz="12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36576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Why This Matters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4572000" cy="8686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002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60020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investor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.need = </a:t>
            </a: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"Quick way to evaluate a company's health before investing"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4572000" cy="8686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65176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65176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economist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.need = </a:t>
            </a: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"Compare companies across sectors using standard metrics"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3520440"/>
            <a:ext cx="4572000" cy="8686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70332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370332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.need = </a:t>
            </a: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"Learn financial analysis by building the tools ourselves"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5486400" y="1417320"/>
            <a:ext cx="3291840" cy="3017520"/>
          </a:xfrm>
          <a:prstGeom prst="rect">
            <a:avLst/>
          </a:prstGeom>
          <a:solidFill>
            <a:srgbClr val="161B22"/>
          </a:solidFill>
          <a:ln w="12700">
            <a:solidFill>
              <a:srgbClr val="8B7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5486400" y="1417320"/>
            <a:ext cx="3291840" cy="36576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/>
          <p:nvPr/>
        </p:nvSpPr>
        <p:spPr>
          <a:xfrm>
            <a:off x="5715000" y="1645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output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5715000" y="201168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</a:t>
            </a:r>
            <a:endParaRPr lang="en-US" sz="3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3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healthy?</a:t>
            </a:r>
            <a:endParaRPr lang="en-US" sz="3000" dirty="0"/>
          </a:p>
        </p:txBody>
      </p:sp>
      <p:sp>
        <p:nvSpPr>
          <p:cNvPr id="18" name="Text 13"/>
          <p:cNvSpPr/>
          <p:nvPr/>
        </p:nvSpPr>
        <p:spPr>
          <a:xfrm>
            <a:off x="5715000" y="356616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Our scanner answers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 in seconds.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Program 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920240" cy="25603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920240" cy="36576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5544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0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2788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310896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company data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.txt file</a:t>
            </a:r>
            <a:endParaRPr lang="en-US" sz="11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5728" y="2423160"/>
            <a:ext cx="228600" cy="2286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633472" y="1371600"/>
            <a:ext cx="1920240" cy="25603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2633472" y="1371600"/>
            <a:ext cx="1920240" cy="36576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2770632" y="15544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2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3552" y="2011680"/>
            <a:ext cx="640080" cy="6400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724912" y="2788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2724912" y="310896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4 key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ratios</a:t>
            </a:r>
            <a:endParaRPr lang="en-US" sz="11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423160"/>
            <a:ext cx="228600" cy="2286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4809744" y="1371600"/>
            <a:ext cx="1920240" cy="25603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4"/>
          <p:cNvSpPr/>
          <p:nvPr/>
        </p:nvSpPr>
        <p:spPr>
          <a:xfrm>
            <a:off x="4809744" y="1371600"/>
            <a:ext cx="1920240" cy="36576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5"/>
          <p:cNvSpPr/>
          <p:nvPr/>
        </p:nvSpPr>
        <p:spPr>
          <a:xfrm>
            <a:off x="4946904" y="15544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2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9824" y="2011680"/>
            <a:ext cx="640080" cy="6400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901184" y="2788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4901184" y="310896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A–F health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(0–9 pts)</a:t>
            </a:r>
            <a:endParaRPr lang="en-US" sz="110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8272" y="2423160"/>
            <a:ext cx="228600" cy="228600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6986016" y="1371600"/>
            <a:ext cx="1920240" cy="25603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19"/>
          <p:cNvSpPr/>
          <p:nvPr/>
        </p:nvSpPr>
        <p:spPr>
          <a:xfrm>
            <a:off x="6986016" y="1371600"/>
            <a:ext cx="1920240" cy="36576"/>
          </a:xfrm>
          <a:prstGeom prst="rect">
            <a:avLst/>
          </a:prstGeom>
          <a:solidFill>
            <a:srgbClr val="BC8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0"/>
          <p:cNvSpPr/>
          <p:nvPr/>
        </p:nvSpPr>
        <p:spPr>
          <a:xfrm>
            <a:off x="7123176" y="15544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20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6096" y="2011680"/>
            <a:ext cx="640080" cy="64008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7077456" y="2788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</a:t>
            </a:r>
            <a:endParaRPr lang="en-US" sz="1400" dirty="0"/>
          </a:p>
        </p:txBody>
      </p:sp>
      <p:sp>
        <p:nvSpPr>
          <p:cNvPr id="31" name="Text 22"/>
          <p:cNvSpPr/>
          <p:nvPr/>
        </p:nvSpPr>
        <p:spPr>
          <a:xfrm>
            <a:off x="7077456" y="310896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ranking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to file</a:t>
            </a:r>
            <a:endParaRPr lang="en-US" sz="1100" dirty="0"/>
          </a:p>
        </p:txBody>
      </p:sp>
      <p:sp>
        <p:nvSpPr>
          <p:cNvPr id="32" name="Shape 23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24"/>
          <p:cNvSpPr/>
          <p:nvPr/>
        </p:nvSpPr>
        <p:spPr>
          <a:xfrm>
            <a:off x="640080" y="4297680"/>
            <a:ext cx="137160" cy="137160"/>
          </a:xfrm>
          <a:prstGeom prst="ellipse">
            <a:avLst/>
          </a:prstGeom>
          <a:solidFill>
            <a:srgbClr val="F851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25"/>
          <p:cNvSpPr/>
          <p:nvPr/>
        </p:nvSpPr>
        <p:spPr>
          <a:xfrm>
            <a:off x="868680" y="4297680"/>
            <a:ext cx="137160" cy="137160"/>
          </a:xfrm>
          <a:prstGeom prst="ellipse">
            <a:avLst/>
          </a:prstGeom>
          <a:solidFill>
            <a:srgbClr val="D299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26"/>
          <p:cNvSpPr/>
          <p:nvPr/>
        </p:nvSpPr>
        <p:spPr>
          <a:xfrm>
            <a:off x="1097280" y="4297680"/>
            <a:ext cx="137160" cy="137160"/>
          </a:xfrm>
          <a:prstGeom prst="ellipse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27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scanner.py --load companies.txt --analyze --report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Financial metrics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Financial Ratios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3840480" cy="16002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45720" cy="1600200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280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14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profit_margin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645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(revenue - costs) / revenue * 100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057400"/>
            <a:ext cx="3474720" cy="9144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2194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Healthy: </a:t>
            </a: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≥ 20%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188720"/>
            <a:ext cx="3840480" cy="16002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09160" y="1188720"/>
            <a:ext cx="45720" cy="1600200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92040" y="1280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14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debt_ratio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():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92040" y="1645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debt / revenue * 100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92040" y="2057400"/>
            <a:ext cx="3474720" cy="9144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92040" y="2194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Healthy: </a:t>
            </a: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≤ 20%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017520"/>
            <a:ext cx="3840480" cy="16002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48640" y="3017520"/>
            <a:ext cx="45720" cy="160020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1520" y="3108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1400" b="1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cash_runway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():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3474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cash / monthly_burn_rate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3886200"/>
            <a:ext cx="3474720" cy="9144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" y="4023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Healthy: </a:t>
            </a: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Profitable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3017520"/>
            <a:ext cx="3840480" cy="16002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709160" y="3017520"/>
            <a:ext cx="45720" cy="1600200"/>
          </a:xfrm>
          <a:prstGeom prst="rect">
            <a:avLst/>
          </a:prstGeom>
          <a:solidFill>
            <a:srgbClr val="BC8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92040" y="3108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14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rev_per_employee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():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892040" y="3474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revenue / employees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92040" y="3886200"/>
            <a:ext cx="3474720" cy="9144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92040" y="4023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Healthy: </a:t>
            </a: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Higher = better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Scoring logic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Grading System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3931920" cy="320040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137160" cy="137160"/>
          </a:xfrm>
          <a:prstGeom prst="ellipse">
            <a:avLst/>
          </a:prstGeom>
          <a:solidFill>
            <a:srgbClr val="F851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60120" y="1280160"/>
            <a:ext cx="137160" cy="137160"/>
          </a:xfrm>
          <a:prstGeom prst="ellipse">
            <a:avLst/>
          </a:prstGeom>
          <a:solidFill>
            <a:srgbClr val="D299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88720" y="1280160"/>
            <a:ext cx="137160" cy="137160"/>
          </a:xfrm>
          <a:prstGeom prst="ellipse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1508760"/>
            <a:ext cx="3931920" cy="2103120"/>
          </a:xfrm>
          <a:prstGeom prst="rect">
            <a:avLst/>
          </a:prstGeom>
          <a:solidFill>
            <a:srgbClr val="1C21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15727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assign_grade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(margin, debt, runway):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177393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points = </a:t>
            </a:r>
            <a:r>
              <a:rPr lang="en-US" sz="10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197510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Each metric: 0-3 pts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" y="21762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3 metrics = max 9 pts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2377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points &gt;= </a:t>
            </a:r>
            <a:r>
              <a:rPr lang="en-US" sz="10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grade = </a:t>
            </a: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"A"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" y="25786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points &gt;= </a:t>
            </a:r>
            <a:r>
              <a:rPr lang="en-US" sz="10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grade = </a:t>
            </a: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"B"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" y="277977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points &gt;= </a:t>
            </a:r>
            <a:r>
              <a:rPr lang="en-US" sz="10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grade = </a:t>
            </a:r>
            <a:r>
              <a:rPr lang="en-US" sz="10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"C"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" y="298094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points &gt;= </a:t>
            </a:r>
            <a:r>
              <a:rPr lang="en-US" sz="10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grade = </a:t>
            </a:r>
            <a:r>
              <a:rPr lang="en-US" sz="10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"D"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18211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grade = </a:t>
            </a:r>
            <a:r>
              <a:rPr lang="en-US" sz="10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"F"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" y="33832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(grade, points)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794760"/>
            <a:ext cx="3931920" cy="1005840"/>
          </a:xfrm>
          <a:prstGeom prst="rect">
            <a:avLst/>
          </a:prstGeom>
          <a:solidFill>
            <a:srgbClr val="161B22"/>
          </a:solidFill>
          <a:ln w="9525">
            <a:solidFill>
              <a:srgbClr val="8B7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1520" y="384048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analyze_company("Apple")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" y="41148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Margin 30.26% → 3pts | Debt 28.18% → 2pts | Profitable → 3pts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31520" y="43891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Total: 8/9  →  Grade 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937760" y="1188720"/>
            <a:ext cx="3749040" cy="5943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074920" y="1280160"/>
            <a:ext cx="502920" cy="411480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74920" y="128016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760720" y="12801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8–9 pts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132320" y="1280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937760" y="1938528"/>
            <a:ext cx="3749040" cy="5943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074920" y="2029968"/>
            <a:ext cx="502920" cy="411480"/>
          </a:xfrm>
          <a:prstGeom prst="rect">
            <a:avLst/>
          </a:prstGeom>
          <a:solidFill>
            <a:srgbClr val="56D3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74920" y="202996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760720" y="202996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6–7 pts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132320" y="202996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937760" y="2688336"/>
            <a:ext cx="3749040" cy="5943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074920" y="2779776"/>
            <a:ext cx="502920" cy="411480"/>
          </a:xfrm>
          <a:prstGeom prst="rect">
            <a:avLst/>
          </a:prstGeom>
          <a:solidFill>
            <a:srgbClr val="D299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074920" y="2779776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5760720" y="2779776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4–5 pts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132320" y="277977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937760" y="3438144"/>
            <a:ext cx="3749040" cy="5943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5074920" y="3529584"/>
            <a:ext cx="502920" cy="411480"/>
          </a:xfrm>
          <a:prstGeom prst="rect">
            <a:avLst/>
          </a:prstGeom>
          <a:solidFill>
            <a:srgbClr val="E3B3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074920" y="3529584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5760720" y="3529584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2–3 pts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132320" y="352958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Risky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4937760" y="4187952"/>
            <a:ext cx="3749040" cy="5943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5074920" y="4279392"/>
            <a:ext cx="502920" cy="411480"/>
          </a:xfrm>
          <a:prstGeom prst="rect">
            <a:avLst/>
          </a:prstGeom>
          <a:solidFill>
            <a:srgbClr val="F851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074920" y="427939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5760720" y="427939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0–1 pts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132320" y="427939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Results</a:t>
            </a:r>
            <a:endParaRPr lang="en-US" sz="3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143000"/>
          <a:ext cx="484632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486400" y="1143000"/>
            <a:ext cx="3291840" cy="320040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669280" y="1234440"/>
            <a:ext cx="137160" cy="137160"/>
          </a:xfrm>
          <a:prstGeom prst="ellipse">
            <a:avLst/>
          </a:prstGeom>
          <a:solidFill>
            <a:srgbClr val="F851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897880" y="1234440"/>
            <a:ext cx="137160" cy="137160"/>
          </a:xfrm>
          <a:prstGeom prst="ellipse">
            <a:avLst/>
          </a:prstGeom>
          <a:solidFill>
            <a:srgbClr val="D299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126480" y="1234440"/>
            <a:ext cx="137160" cy="137160"/>
          </a:xfrm>
          <a:prstGeom prst="ellipse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486400" y="1463040"/>
            <a:ext cx="3291840" cy="3200400"/>
          </a:xfrm>
          <a:prstGeom prst="rect">
            <a:avLst/>
          </a:prstGeom>
          <a:solidFill>
            <a:srgbClr val="1C21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623560" y="15087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display_ranking()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623560" y="1783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 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Apple       </a:t>
            </a:r>
            <a:r>
              <a:rPr lang="en-US" sz="10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  </a:t>
            </a: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8/9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623560" y="20756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 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Microsoft   </a:t>
            </a:r>
            <a:r>
              <a:rPr lang="en-US" sz="10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  </a:t>
            </a: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8/9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623560" y="236829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#3 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Tesla       </a:t>
            </a:r>
            <a:r>
              <a:rPr lang="en-US" sz="10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  </a:t>
            </a: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8/9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623560" y="26609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#4 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Amazon      </a:t>
            </a:r>
            <a:r>
              <a:rPr lang="en-US" sz="1000" b="1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  </a:t>
            </a: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7/9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623560" y="29535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#5 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Netflix     </a:t>
            </a:r>
            <a:r>
              <a:rPr lang="en-US" sz="1000" b="1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  </a:t>
            </a: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6/9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623560" y="32461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#6 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Spotify     </a:t>
            </a:r>
            <a:r>
              <a:rPr lang="en-US" sz="100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  </a:t>
            </a: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5/9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623560" y="35387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#7 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GameStop    </a:t>
            </a:r>
            <a:r>
              <a:rPr lang="en-US" sz="100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  </a:t>
            </a: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5/9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623560" y="38313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#8 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WeWork      </a:t>
            </a:r>
            <a:r>
              <a:rPr lang="en-US" sz="100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  </a:t>
            </a: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0/9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7200" y="4160520"/>
            <a:ext cx="8229600" cy="594360"/>
          </a:xfrm>
          <a:prstGeom prst="rect">
            <a:avLst/>
          </a:prstGeom>
          <a:solidFill>
            <a:srgbClr val="161B22"/>
          </a:solidFill>
          <a:ln w="6350">
            <a:solidFill>
              <a:srgbClr val="8B7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40080" y="42062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Apple </a:t>
            </a: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leads at 30% margin (Grade A)  |  </a:t>
            </a:r>
            <a:r>
              <a:rPr lang="en-US" sz="120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WeWork </a:t>
            </a: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fails with 3.5 months runway (Grade F)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Skills demonstrated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Python Concepts Used</a:t>
            </a:r>
            <a:endParaRPr lang="en-US" sz="3400" dirty="0">
              <a:latin typeface="Century Gothic" panose="020B0502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3840480" cy="8686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143000"/>
            <a:ext cx="45720" cy="868680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234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Functions + Docstrings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0" y="1234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S9–10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1554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functions with :param / :return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143000"/>
            <a:ext cx="3840480" cy="8686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09160" y="1143000"/>
            <a:ext cx="45720" cy="868680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92040" y="1234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Dictionaries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35240" y="1234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S11–12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92040" y="1554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Nested dict of dicts for data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194560"/>
            <a:ext cx="3840480" cy="8686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8640" y="2194560"/>
            <a:ext cx="45720" cy="868680"/>
          </a:xfrm>
          <a:prstGeom prst="rect">
            <a:avLst/>
          </a:prstGeom>
          <a:solidFill>
            <a:srgbClr val="BC8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2286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I/O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74720" y="22860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S9–10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" y="2606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open(), for line in fp, write()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2194560"/>
            <a:ext cx="3840480" cy="8686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09160" y="2194560"/>
            <a:ext cx="45720" cy="868680"/>
          </a:xfrm>
          <a:prstGeom prst="rect">
            <a:avLst/>
          </a:prstGeom>
          <a:solidFill>
            <a:srgbClr val="F851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92040" y="2286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Handling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635240" y="22860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S5–6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92040" y="2606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try/except on files + input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246120"/>
            <a:ext cx="3840480" cy="8686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48640" y="3246120"/>
            <a:ext cx="45720" cy="868680"/>
          </a:xfrm>
          <a:prstGeom prst="rect">
            <a:avLst/>
          </a:prstGeom>
          <a:solidFill>
            <a:srgbClr val="D299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31520" y="3337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74720" y="3337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S7–8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31520" y="3657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split(), strip(), f-strings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09160" y="3246120"/>
            <a:ext cx="3840480" cy="8686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709160" y="3246120"/>
            <a:ext cx="45720" cy="86868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92040" y="3337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Lists + Tuples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635240" y="3337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S9–12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92040" y="3657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append(), return as tuple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4297680"/>
            <a:ext cx="8229600" cy="502920"/>
          </a:xfrm>
          <a:prstGeom prst="rect">
            <a:avLst/>
          </a:prstGeom>
          <a:solidFill>
            <a:srgbClr val="238636">
              <a:alpha val="30000"/>
            </a:srgbClr>
          </a:solidFill>
          <a:ln w="6350">
            <a:solidFill>
              <a:srgbClr val="2386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40080" y="431596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 class material  •  Zero external libraries  •  Midterm-safe Python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Debugging &amp; problem solving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3400" dirty="0">
              <a:latin typeface="Century Gothic" panose="020B0502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8046720" cy="7315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2618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FileNotFoundError on bad path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206240" y="14173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63440" y="126187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 </a:t>
            </a: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try/except catches it, prints warning, returns empty dict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8046720" cy="7315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21762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ZeroDivisionError if revenue = 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206240" y="23317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63440" y="217627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 </a:t>
            </a: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revenue == 0: return 0.0 before any division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8046720" cy="7315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3090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bad metric kills the grade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206240" y="32461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63440" y="309067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 </a:t>
            </a: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 system (0–3 per ratio) so no single metric dominates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3931920"/>
            <a:ext cx="8046720" cy="7315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4005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Need sorting without sort()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206240" y="4160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663440" y="400507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 </a:t>
            </a: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Bubble sort with nested for + range() — shows algorithm knowledge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731520"/>
            <a:ext cx="7315200" cy="320040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97280" y="822960"/>
            <a:ext cx="137160" cy="137160"/>
          </a:xfrm>
          <a:prstGeom prst="ellipse">
            <a:avLst/>
          </a:prstGeom>
          <a:solidFill>
            <a:srgbClr val="F851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325880" y="822960"/>
            <a:ext cx="137160" cy="137160"/>
          </a:xfrm>
          <a:prstGeom prst="ellipse">
            <a:avLst/>
          </a:prstGeom>
          <a:solidFill>
            <a:srgbClr val="D299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554480" y="822960"/>
            <a:ext cx="137160" cy="137160"/>
          </a:xfrm>
          <a:prstGeom prst="ellipse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1051560"/>
            <a:ext cx="7315200" cy="3474720"/>
          </a:xfrm>
          <a:prstGeom prst="rect">
            <a:avLst/>
          </a:prstGeom>
          <a:solidFill>
            <a:srgbClr val="1C21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0" y="7498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financial_health_scanner.py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88720" y="1143000"/>
            <a:ext cx="6766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financial_health_scanner.py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88720" y="1389888"/>
            <a:ext cx="6766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88720" y="1636776"/>
            <a:ext cx="6766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386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**************************************************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88720" y="1883664"/>
            <a:ext cx="6766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Welcome to the Financial Health Scanner!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88720" y="2130552"/>
            <a:ext cx="6766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386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**************************************************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88720" y="2377440"/>
            <a:ext cx="6766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88720" y="2624328"/>
            <a:ext cx="6766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1. Load &amp; analyze companies from file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88720" y="2871216"/>
            <a:ext cx="6766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2. Enter a company manually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88720" y="3118104"/>
            <a:ext cx="6766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3. View ranking of loaded companies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88720" y="3364992"/>
            <a:ext cx="6766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4. Save report to file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88720" y="3611880"/>
            <a:ext cx="6766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5. Exit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88720" y="3858768"/>
            <a:ext cx="6766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88720" y="4105656"/>
            <a:ext cx="6766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Choose an option (1-5): _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4617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Future improvements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3400" dirty="0">
              <a:latin typeface="Century Gothic" panose="020B0502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8046720" cy="6858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45720" cy="685800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" y="1371600"/>
            <a:ext cx="594360" cy="320040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137160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v2.0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554480" y="12801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 API Integration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54480" y="15544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Pull live financial data instead of manual files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057400"/>
            <a:ext cx="8046720" cy="6858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48640" y="2057400"/>
            <a:ext cx="45720" cy="685800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77240" y="2240280"/>
            <a:ext cx="594360" cy="320040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224028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v2.1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554480" y="21488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Historical Tracking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54480" y="24231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Compare a company's grade over multiple quarters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926080"/>
            <a:ext cx="8046720" cy="6858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48640" y="2926080"/>
            <a:ext cx="45720" cy="68580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77240" y="3108960"/>
            <a:ext cx="594360" cy="32004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7240" y="310896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v2.2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554480" y="3017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Sector Benchmarking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554480" y="32918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 relative to industry, not absolute thresholds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794760"/>
            <a:ext cx="8046720" cy="6858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48640" y="3794760"/>
            <a:ext cx="45720" cy="685800"/>
          </a:xfrm>
          <a:prstGeom prst="rect">
            <a:avLst/>
          </a:prstGeom>
          <a:solidFill>
            <a:srgbClr val="BC8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77240" y="3977640"/>
            <a:ext cx="594360" cy="320040"/>
          </a:xfrm>
          <a:prstGeom prst="rect">
            <a:avLst/>
          </a:prstGeom>
          <a:solidFill>
            <a:srgbClr val="BC8C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77240" y="397764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v3.0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554480" y="3886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Visual Dashboard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554480" y="41605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charts with matplotlib or a web framework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161B22"/>
          </a:solidFill>
          <a:ln w="6350">
            <a:solidFill>
              <a:srgbClr val="8B7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40080" y="4590288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Bloomberg Terminal: </a:t>
            </a: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$24,000/yr  |  </a:t>
            </a: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Our scanner: </a:t>
            </a:r>
            <a:r>
              <a:rPr lang="en-US" sz="11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Free, built with basic Python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640080"/>
            <a:ext cx="6400800" cy="320040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554480" y="731520"/>
            <a:ext cx="137160" cy="137160"/>
          </a:xfrm>
          <a:prstGeom prst="ellipse">
            <a:avLst/>
          </a:prstGeom>
          <a:solidFill>
            <a:srgbClr val="F851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783080" y="731520"/>
            <a:ext cx="137160" cy="137160"/>
          </a:xfrm>
          <a:prstGeom prst="ellipse">
            <a:avLst/>
          </a:prstGeom>
          <a:solidFill>
            <a:srgbClr val="D299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011680" y="731520"/>
            <a:ext cx="137160" cy="137160"/>
          </a:xfrm>
          <a:prstGeom prst="ellipse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371600" y="960120"/>
            <a:ext cx="6400800" cy="3474720"/>
          </a:xfrm>
          <a:prstGeom prst="rect">
            <a:avLst/>
          </a:prstGeom>
          <a:solidFill>
            <a:srgbClr val="1C21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0" y="6583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session_complete.py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0" y="1280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</a:t>
            </a:r>
            <a:r>
              <a:rPr lang="en-US" sz="13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"Thank You!"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173736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400" dirty="0">
              <a:latin typeface="Century Gothic" panose="020B0502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00400" y="2560320"/>
            <a:ext cx="2743200" cy="2743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371600" y="27432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Answers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45920" y="338328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clone </a:t>
            </a:r>
            <a:r>
              <a:rPr lang="en-US" sz="1300" dirty="0" err="1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</a:t>
            </a:r>
            <a:r>
              <a:rPr lang="en-US" sz="13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/[</a:t>
            </a:r>
            <a:r>
              <a:rPr lang="en-US" sz="1300" dirty="0" err="1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anjaruzica</a:t>
            </a:r>
            <a:r>
              <a:rPr lang="en-US" sz="13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71600" y="45720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100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[”Marina", ”Anja Ruzica", ”Sergio"]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7160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Programming for Economists II  •  IE University  •  2025–2026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819</Words>
  <Application>Microsoft Macintosh PowerPoint</Application>
  <PresentationFormat>On-screen Show (16:9)</PresentationFormat>
  <Paragraphs>174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Century Gothic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Financial Health Scanner</dc:title>
  <dc:subject>PptxGenJS Presentation</dc:subject>
  <dc:creator>Group [Your Names]</dc:creator>
  <cp:lastModifiedBy>Anja Ruzica Cacic Milutinovic</cp:lastModifiedBy>
  <cp:revision>3</cp:revision>
  <dcterms:created xsi:type="dcterms:W3CDTF">2026-03-03T22:38:14Z</dcterms:created>
  <dcterms:modified xsi:type="dcterms:W3CDTF">2026-03-03T22:44:07Z</dcterms:modified>
</cp:coreProperties>
</file>